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Anaphora Bold" charset="1" panose="00000000000000000000"/>
      <p:regular r:id="rId11"/>
    </p:embeddedFont>
    <p:embeddedFont>
      <p:font typeface="Noto Sans" charset="1" panose="020B0502040504020204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357208" y="-2541774"/>
            <a:ext cx="5077342" cy="15444385"/>
          </a:xfrm>
          <a:custGeom>
            <a:avLst/>
            <a:gdLst/>
            <a:ahLst/>
            <a:cxnLst/>
            <a:rect r="r" b="b" t="t" l="l"/>
            <a:pathLst>
              <a:path h="15444385" w="5077342">
                <a:moveTo>
                  <a:pt x="0" y="0"/>
                </a:moveTo>
                <a:lnTo>
                  <a:pt x="5077341" y="0"/>
                </a:lnTo>
                <a:lnTo>
                  <a:pt x="5077341" y="15444385"/>
                </a:lnTo>
                <a:lnTo>
                  <a:pt x="0" y="154443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803051" y="-2639827"/>
            <a:ext cx="5029939" cy="15476734"/>
          </a:xfrm>
          <a:custGeom>
            <a:avLst/>
            <a:gdLst/>
            <a:ahLst/>
            <a:cxnLst/>
            <a:rect r="r" b="b" t="t" l="l"/>
            <a:pathLst>
              <a:path h="15476734" w="5029939">
                <a:moveTo>
                  <a:pt x="0" y="0"/>
                </a:moveTo>
                <a:lnTo>
                  <a:pt x="5029939" y="0"/>
                </a:lnTo>
                <a:lnTo>
                  <a:pt x="5029939" y="15476734"/>
                </a:lnTo>
                <a:lnTo>
                  <a:pt x="0" y="154767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538564" y="-269842"/>
            <a:ext cx="3647923" cy="3068815"/>
          </a:xfrm>
          <a:custGeom>
            <a:avLst/>
            <a:gdLst/>
            <a:ahLst/>
            <a:cxnLst/>
            <a:rect r="r" b="b" t="t" l="l"/>
            <a:pathLst>
              <a:path h="3068815" w="3647923">
                <a:moveTo>
                  <a:pt x="0" y="0"/>
                </a:moveTo>
                <a:lnTo>
                  <a:pt x="3647923" y="0"/>
                </a:lnTo>
                <a:lnTo>
                  <a:pt x="3647923" y="3068815"/>
                </a:lnTo>
                <a:lnTo>
                  <a:pt x="0" y="30688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31522" y="-673800"/>
            <a:ext cx="3432625" cy="3741113"/>
          </a:xfrm>
          <a:custGeom>
            <a:avLst/>
            <a:gdLst/>
            <a:ahLst/>
            <a:cxnLst/>
            <a:rect r="r" b="b" t="t" l="l"/>
            <a:pathLst>
              <a:path h="3741113" w="3432625">
                <a:moveTo>
                  <a:pt x="0" y="0"/>
                </a:moveTo>
                <a:lnTo>
                  <a:pt x="3432625" y="0"/>
                </a:lnTo>
                <a:lnTo>
                  <a:pt x="3432625" y="3741113"/>
                </a:lnTo>
                <a:lnTo>
                  <a:pt x="0" y="37411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-1171114" y="8316395"/>
            <a:ext cx="3474777" cy="4189708"/>
          </a:xfrm>
          <a:custGeom>
            <a:avLst/>
            <a:gdLst/>
            <a:ahLst/>
            <a:cxnLst/>
            <a:rect r="r" b="b" t="t" l="l"/>
            <a:pathLst>
              <a:path h="4189708" w="3474777">
                <a:moveTo>
                  <a:pt x="0" y="0"/>
                </a:moveTo>
                <a:lnTo>
                  <a:pt x="3474777" y="0"/>
                </a:lnTo>
                <a:lnTo>
                  <a:pt x="3474777" y="4189708"/>
                </a:lnTo>
                <a:lnTo>
                  <a:pt x="0" y="41897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15868576" y="8211315"/>
            <a:ext cx="3489636" cy="3583668"/>
          </a:xfrm>
          <a:custGeom>
            <a:avLst/>
            <a:gdLst/>
            <a:ahLst/>
            <a:cxnLst/>
            <a:rect r="r" b="b" t="t" l="l"/>
            <a:pathLst>
              <a:path h="3583668" w="3489636">
                <a:moveTo>
                  <a:pt x="0" y="0"/>
                </a:moveTo>
                <a:lnTo>
                  <a:pt x="3489635" y="0"/>
                </a:lnTo>
                <a:lnTo>
                  <a:pt x="3489635" y="3583667"/>
                </a:lnTo>
                <a:lnTo>
                  <a:pt x="0" y="35836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935830" y="2053399"/>
            <a:ext cx="12387037" cy="2398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25"/>
              </a:lnSpc>
            </a:pPr>
            <a:r>
              <a:rPr lang="en-US" b="true" sz="6803">
                <a:gradFill>
                  <a:gsLst>
                    <a:gs pos="0">
                      <a:srgbClr val="82EAFC">
                        <a:alpha val="100000"/>
                      </a:srgbClr>
                    </a:gs>
                    <a:gs pos="100000">
                      <a:srgbClr val="6284F3">
                        <a:alpha val="100000"/>
                      </a:srgbClr>
                    </a:gs>
                  </a:gsLst>
                  <a:lin ang="0"/>
                </a:gradFill>
                <a:latin typeface="Anaphora Bold"/>
                <a:ea typeface="Anaphora Bold"/>
                <a:cs typeface="Anaphora Bold"/>
                <a:sym typeface="Anaphora Bold"/>
              </a:rPr>
              <a:t>Progress Tracker</a:t>
            </a:r>
          </a:p>
          <a:p>
            <a:pPr algn="ctr" marL="0" indent="0" lvl="0">
              <a:lnSpc>
                <a:spcPts val="9525"/>
              </a:lnSpc>
            </a:pPr>
            <a:r>
              <a:rPr lang="en-US" b="true" sz="6803">
                <a:gradFill>
                  <a:gsLst>
                    <a:gs pos="0">
                      <a:srgbClr val="82EAFC">
                        <a:alpha val="100000"/>
                      </a:srgbClr>
                    </a:gs>
                    <a:gs pos="100000">
                      <a:srgbClr val="6284F3">
                        <a:alpha val="100000"/>
                      </a:srgbClr>
                    </a:gs>
                  </a:gsLst>
                  <a:lin ang="0"/>
                </a:gradFill>
                <a:latin typeface="Anaphora Bold"/>
                <a:ea typeface="Anaphora Bold"/>
                <a:cs typeface="Anaphora Bold"/>
                <a:sym typeface="Anaphora Bold"/>
              </a:rPr>
              <a:t>Web Application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690761" y="5050915"/>
            <a:ext cx="7165577" cy="789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21"/>
              </a:lnSpc>
            </a:pPr>
            <a:r>
              <a:rPr lang="en-US" sz="230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 web-based system to track tasks and courses | Built using Flask (Python)</a:t>
            </a:r>
          </a:p>
        </p:txBody>
      </p:sp>
      <p:sp>
        <p:nvSpPr>
          <p:cNvPr name="AutoShape 10" id="10"/>
          <p:cNvSpPr/>
          <p:nvPr/>
        </p:nvSpPr>
        <p:spPr>
          <a:xfrm>
            <a:off x="4219662" y="9239250"/>
            <a:ext cx="9848677" cy="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11" id="11"/>
          <p:cNvSpPr/>
          <p:nvPr/>
        </p:nvSpPr>
        <p:spPr>
          <a:xfrm>
            <a:off x="4219662" y="1047750"/>
            <a:ext cx="9848677" cy="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664908" y="-995700"/>
            <a:ext cx="5202946" cy="12170635"/>
          </a:xfrm>
          <a:custGeom>
            <a:avLst/>
            <a:gdLst/>
            <a:ahLst/>
            <a:cxnLst/>
            <a:rect r="r" b="b" t="t" l="l"/>
            <a:pathLst>
              <a:path h="12170635" w="5202946">
                <a:moveTo>
                  <a:pt x="0" y="0"/>
                </a:moveTo>
                <a:lnTo>
                  <a:pt x="5202946" y="0"/>
                </a:lnTo>
                <a:lnTo>
                  <a:pt x="5202946" y="12170635"/>
                </a:lnTo>
                <a:lnTo>
                  <a:pt x="0" y="121706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107177" y="-769054"/>
            <a:ext cx="3472822" cy="3799885"/>
          </a:xfrm>
          <a:custGeom>
            <a:avLst/>
            <a:gdLst/>
            <a:ahLst/>
            <a:cxnLst/>
            <a:rect r="r" b="b" t="t" l="l"/>
            <a:pathLst>
              <a:path h="3799885" w="3472822">
                <a:moveTo>
                  <a:pt x="0" y="0"/>
                </a:moveTo>
                <a:lnTo>
                  <a:pt x="3472822" y="0"/>
                </a:lnTo>
                <a:lnTo>
                  <a:pt x="3472822" y="3799886"/>
                </a:lnTo>
                <a:lnTo>
                  <a:pt x="0" y="37998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6112362" y="8099301"/>
            <a:ext cx="3474403" cy="4117811"/>
          </a:xfrm>
          <a:custGeom>
            <a:avLst/>
            <a:gdLst/>
            <a:ahLst/>
            <a:cxnLst/>
            <a:rect r="r" b="b" t="t" l="l"/>
            <a:pathLst>
              <a:path h="4117811" w="3474403">
                <a:moveTo>
                  <a:pt x="0" y="0"/>
                </a:moveTo>
                <a:lnTo>
                  <a:pt x="3474403" y="0"/>
                </a:lnTo>
                <a:lnTo>
                  <a:pt x="3474403" y="4117811"/>
                </a:lnTo>
                <a:lnTo>
                  <a:pt x="0" y="41178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5224952" y="9239250"/>
            <a:ext cx="8843387" cy="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6" id="6"/>
          <p:cNvSpPr/>
          <p:nvPr/>
        </p:nvSpPr>
        <p:spPr>
          <a:xfrm>
            <a:off x="1028700" y="1047750"/>
            <a:ext cx="13039638" cy="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TextBox 7" id="7"/>
          <p:cNvSpPr txBox="true"/>
          <p:nvPr/>
        </p:nvSpPr>
        <p:spPr>
          <a:xfrm rot="0">
            <a:off x="1028700" y="8872677"/>
            <a:ext cx="1088264" cy="61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27"/>
              </a:lnSpc>
            </a:pPr>
            <a:r>
              <a:rPr lang="en-US" sz="359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25877" y="8872677"/>
            <a:ext cx="2926073" cy="613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27"/>
              </a:lnSpc>
            </a:pPr>
            <a:r>
              <a:rPr lang="en-US" sz="359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Presentation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847075"/>
            <a:ext cx="8392503" cy="1717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015"/>
              </a:lnSpc>
            </a:pPr>
            <a:r>
              <a:rPr lang="en-US" b="true" sz="10010">
                <a:gradFill>
                  <a:gsLst>
                    <a:gs pos="0">
                      <a:srgbClr val="82EAFC">
                        <a:alpha val="100000"/>
                      </a:srgbClr>
                    </a:gs>
                    <a:gs pos="100000">
                      <a:srgbClr val="6284F3">
                        <a:alpha val="100000"/>
                      </a:srgbClr>
                    </a:gs>
                  </a:gsLst>
                  <a:lin ang="0"/>
                </a:gradFill>
                <a:latin typeface="Anaphora Bold"/>
                <a:ea typeface="Anaphora Bold"/>
                <a:cs typeface="Anaphora Bold"/>
                <a:sym typeface="Anaphora Bold"/>
              </a:rPr>
              <a:t>Problems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425736" y="3768428"/>
            <a:ext cx="5027586" cy="2785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96"/>
              </a:lnSpc>
            </a:pPr>
            <a:r>
              <a:rPr lang="en-US" sz="321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Users struggle to track learning progress across multiple courses and tasks with no centralized system in place.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98432" y="3730328"/>
            <a:ext cx="1566260" cy="880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35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0971304" y="3768428"/>
            <a:ext cx="5027586" cy="3909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96"/>
              </a:lnSpc>
            </a:pPr>
            <a:r>
              <a:rPr lang="en-US" sz="321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Existing tools are overly complex and not personalized. A lightweight solution is needed to combine task and course management efficiently.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0" y="3730328"/>
            <a:ext cx="1566260" cy="880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35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565091" y="-738226"/>
            <a:ext cx="5313744" cy="12321725"/>
          </a:xfrm>
          <a:custGeom>
            <a:avLst/>
            <a:gdLst/>
            <a:ahLst/>
            <a:cxnLst/>
            <a:rect r="r" b="b" t="t" l="l"/>
            <a:pathLst>
              <a:path h="12321725" w="5313744">
                <a:moveTo>
                  <a:pt x="0" y="0"/>
                </a:moveTo>
                <a:lnTo>
                  <a:pt x="5313744" y="0"/>
                </a:lnTo>
                <a:lnTo>
                  <a:pt x="5313744" y="12321725"/>
                </a:lnTo>
                <a:lnTo>
                  <a:pt x="0" y="123217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896369" y="-384226"/>
            <a:ext cx="3471200" cy="3093707"/>
          </a:xfrm>
          <a:custGeom>
            <a:avLst/>
            <a:gdLst/>
            <a:ahLst/>
            <a:cxnLst/>
            <a:rect r="r" b="b" t="t" l="l"/>
            <a:pathLst>
              <a:path h="3093707" w="3471200">
                <a:moveTo>
                  <a:pt x="0" y="0"/>
                </a:moveTo>
                <a:lnTo>
                  <a:pt x="3471200" y="0"/>
                </a:lnTo>
                <a:lnTo>
                  <a:pt x="3471200" y="3093708"/>
                </a:lnTo>
                <a:lnTo>
                  <a:pt x="0" y="30937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5989548" y="8279741"/>
            <a:ext cx="3475431" cy="4330755"/>
          </a:xfrm>
          <a:custGeom>
            <a:avLst/>
            <a:gdLst/>
            <a:ahLst/>
            <a:cxnLst/>
            <a:rect r="r" b="b" t="t" l="l"/>
            <a:pathLst>
              <a:path h="4330755" w="3475431">
                <a:moveTo>
                  <a:pt x="0" y="0"/>
                </a:moveTo>
                <a:lnTo>
                  <a:pt x="3475431" y="0"/>
                </a:lnTo>
                <a:lnTo>
                  <a:pt x="3475431" y="4330755"/>
                </a:lnTo>
                <a:lnTo>
                  <a:pt x="0" y="43307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5224952" y="9239250"/>
            <a:ext cx="8843387" cy="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6" id="6"/>
          <p:cNvSpPr/>
          <p:nvPr/>
        </p:nvSpPr>
        <p:spPr>
          <a:xfrm>
            <a:off x="1028700" y="1047750"/>
            <a:ext cx="13039638" cy="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TextBox 7" id="7"/>
          <p:cNvSpPr txBox="true"/>
          <p:nvPr/>
        </p:nvSpPr>
        <p:spPr>
          <a:xfrm rot="0">
            <a:off x="1028700" y="8872677"/>
            <a:ext cx="1088264" cy="61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27"/>
              </a:lnSpc>
            </a:pPr>
            <a:r>
              <a:rPr lang="en-US" sz="359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25877" y="8872677"/>
            <a:ext cx="2926073" cy="613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27"/>
              </a:lnSpc>
            </a:pPr>
            <a:r>
              <a:rPr lang="en-US" sz="359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Methodology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932800"/>
            <a:ext cx="8392503" cy="970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1"/>
              </a:lnSpc>
            </a:pPr>
            <a:r>
              <a:rPr lang="en-US" b="true" sz="5658">
                <a:gradFill>
                  <a:gsLst>
                    <a:gs pos="0">
                      <a:srgbClr val="82EAFC">
                        <a:alpha val="100000"/>
                      </a:srgbClr>
                    </a:gs>
                    <a:gs pos="100000">
                      <a:srgbClr val="6284F3">
                        <a:alpha val="100000"/>
                      </a:srgbClr>
                    </a:gs>
                  </a:gsLst>
                  <a:lin ang="0"/>
                </a:gradFill>
                <a:latin typeface="Anaphora Bold"/>
                <a:ea typeface="Anaphora Bold"/>
                <a:cs typeface="Anaphora Bold"/>
                <a:sym typeface="Anaphora Bold"/>
              </a:rPr>
              <a:t>Methodology / Approach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3768428"/>
            <a:ext cx="7093613" cy="3909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93"/>
              </a:lnSpc>
            </a:pPr>
            <a:r>
              <a:rPr lang="en-US" sz="320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Backend using Flask (Python)</a:t>
            </a:r>
          </a:p>
          <a:p>
            <a:pPr algn="l" marL="0" indent="0" lvl="0">
              <a:lnSpc>
                <a:spcPts val="4493"/>
              </a:lnSpc>
            </a:pPr>
            <a:r>
              <a:rPr lang="en-US" sz="320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Authentication with Flask-Login for secure user sessions</a:t>
            </a:r>
          </a:p>
          <a:p>
            <a:pPr algn="l" marL="0" indent="0" lvl="0">
              <a:lnSpc>
                <a:spcPts val="4493"/>
              </a:lnSpc>
            </a:pPr>
            <a:r>
              <a:rPr lang="en-US" sz="320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Database using SQLite and SQLAlchemy ORM</a:t>
            </a:r>
          </a:p>
          <a:p>
            <a:pPr algn="l" marL="0" indent="0" lvl="0">
              <a:lnSpc>
                <a:spcPts val="4493"/>
              </a:lnSpc>
            </a:pPr>
            <a:r>
              <a:rPr lang="en-US" sz="320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Frontend with HTML, CSS, and Jinja2 templating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460710" y="3768428"/>
            <a:ext cx="7093613" cy="4471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93"/>
              </a:lnSpc>
            </a:pPr>
            <a:r>
              <a:rPr lang="en-US" sz="320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Modular architecture with organized routes, templates, and static files</a:t>
            </a:r>
          </a:p>
          <a:p>
            <a:pPr algn="l" marL="0" indent="0" lvl="0">
              <a:lnSpc>
                <a:spcPts val="4493"/>
              </a:lnSpc>
            </a:pPr>
            <a:r>
              <a:rPr lang="en-US" sz="320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RESTful routing structure for clean URL management</a:t>
            </a:r>
          </a:p>
          <a:p>
            <a:pPr algn="l" marL="0" indent="0" lvl="0">
              <a:lnSpc>
                <a:spcPts val="4493"/>
              </a:lnSpc>
            </a:pPr>
            <a:r>
              <a:rPr lang="en-US" sz="320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Password hashing for enhanced security</a:t>
            </a:r>
          </a:p>
          <a:p>
            <a:pPr algn="l" marL="0" indent="0" lvl="0">
              <a:lnSpc>
                <a:spcPts val="4493"/>
              </a:lnSpc>
            </a:pPr>
            <a:r>
              <a:rPr lang="en-US" sz="320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Responsive UI design for cross-device compatibility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39541" y="-2483499"/>
            <a:ext cx="4841686" cy="15249404"/>
          </a:xfrm>
          <a:custGeom>
            <a:avLst/>
            <a:gdLst/>
            <a:ahLst/>
            <a:cxnLst/>
            <a:rect r="r" b="b" t="t" l="l"/>
            <a:pathLst>
              <a:path h="15249404" w="4841686">
                <a:moveTo>
                  <a:pt x="0" y="0"/>
                </a:moveTo>
                <a:lnTo>
                  <a:pt x="4841685" y="0"/>
                </a:lnTo>
                <a:lnTo>
                  <a:pt x="4841685" y="15249405"/>
                </a:lnTo>
                <a:lnTo>
                  <a:pt x="0" y="152494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45460" y="-1356338"/>
            <a:ext cx="2980952" cy="4097528"/>
          </a:xfrm>
          <a:custGeom>
            <a:avLst/>
            <a:gdLst/>
            <a:ahLst/>
            <a:cxnLst/>
            <a:rect r="r" b="b" t="t" l="l"/>
            <a:pathLst>
              <a:path h="4097528" w="2980952">
                <a:moveTo>
                  <a:pt x="0" y="0"/>
                </a:moveTo>
                <a:lnTo>
                  <a:pt x="2980952" y="0"/>
                </a:lnTo>
                <a:lnTo>
                  <a:pt x="2980952" y="4097528"/>
                </a:lnTo>
                <a:lnTo>
                  <a:pt x="0" y="40975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5788767" y="5484904"/>
            <a:ext cx="3541283" cy="8798220"/>
          </a:xfrm>
          <a:custGeom>
            <a:avLst/>
            <a:gdLst/>
            <a:ahLst/>
            <a:cxnLst/>
            <a:rect r="r" b="b" t="t" l="l"/>
            <a:pathLst>
              <a:path h="8798220" w="3541283">
                <a:moveTo>
                  <a:pt x="0" y="0"/>
                </a:moveTo>
                <a:lnTo>
                  <a:pt x="3541284" y="0"/>
                </a:lnTo>
                <a:lnTo>
                  <a:pt x="3541284" y="8798220"/>
                </a:lnTo>
                <a:lnTo>
                  <a:pt x="0" y="87982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5224952" y="9239250"/>
            <a:ext cx="8843387" cy="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6" id="6"/>
          <p:cNvSpPr/>
          <p:nvPr/>
        </p:nvSpPr>
        <p:spPr>
          <a:xfrm>
            <a:off x="1028700" y="1047750"/>
            <a:ext cx="13039638" cy="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TextBox 7" id="7"/>
          <p:cNvSpPr txBox="true"/>
          <p:nvPr/>
        </p:nvSpPr>
        <p:spPr>
          <a:xfrm rot="0">
            <a:off x="1028700" y="8872677"/>
            <a:ext cx="1088264" cy="61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27"/>
              </a:lnSpc>
            </a:pPr>
            <a:r>
              <a:rPr lang="en-US" sz="359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25877" y="8872677"/>
            <a:ext cx="2926073" cy="613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27"/>
              </a:lnSpc>
            </a:pPr>
            <a:r>
              <a:rPr lang="en-US" sz="359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Presentation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810480"/>
            <a:ext cx="8392503" cy="1351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078"/>
              </a:lnSpc>
            </a:pPr>
            <a:r>
              <a:rPr lang="en-US" b="true" sz="7913">
                <a:gradFill>
                  <a:gsLst>
                    <a:gs pos="0">
                      <a:srgbClr val="82EAFC">
                        <a:alpha val="100000"/>
                      </a:srgbClr>
                    </a:gs>
                    <a:gs pos="100000">
                      <a:srgbClr val="6284F3">
                        <a:alpha val="100000"/>
                      </a:srgbClr>
                    </a:gs>
                  </a:gsLst>
                  <a:lin ang="0"/>
                </a:gradFill>
                <a:latin typeface="Anaphora Bold"/>
                <a:ea typeface="Anaphora Bold"/>
                <a:cs typeface="Anaphora Bold"/>
                <a:sym typeface="Anaphora Bold"/>
              </a:rPr>
              <a:t>Results / Outcome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425736" y="3684208"/>
            <a:ext cx="10642603" cy="2223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93"/>
              </a:lnSpc>
            </a:pPr>
            <a:r>
              <a:rPr lang="en-US" sz="320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Secure user registration and login system implemented with Flask-Login. Users can add, update, and track courses and tasks seamlessly. Responsive UI ensures accessibility across devices and screen sizes.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98432" y="3646108"/>
            <a:ext cx="1566260" cy="880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35"/>
              </a:lnSpc>
            </a:pPr>
            <a:r>
              <a:rPr lang="en-US" sz="5168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425736" y="6100598"/>
            <a:ext cx="10642603" cy="2223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93"/>
              </a:lnSpc>
            </a:pPr>
            <a:r>
              <a:rPr lang="en-US" sz="320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Efficient SQLite data handling via SQLAlchemy enables fast and reliable data operations. A fully functional prototype demonstrates end-to-end progress tracking capabilities for students and self-learners.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98432" y="6062498"/>
            <a:ext cx="1566260" cy="880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35"/>
              </a:lnSpc>
            </a:pPr>
            <a:r>
              <a:rPr lang="en-US" sz="5168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2.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37490" y="-298183"/>
            <a:ext cx="5069109" cy="10843013"/>
          </a:xfrm>
          <a:custGeom>
            <a:avLst/>
            <a:gdLst/>
            <a:ahLst/>
            <a:cxnLst/>
            <a:rect r="r" b="b" t="t" l="l"/>
            <a:pathLst>
              <a:path h="10843013" w="5069109">
                <a:moveTo>
                  <a:pt x="0" y="0"/>
                </a:moveTo>
                <a:lnTo>
                  <a:pt x="5069109" y="0"/>
                </a:lnTo>
                <a:lnTo>
                  <a:pt x="5069109" y="10843013"/>
                </a:lnTo>
                <a:lnTo>
                  <a:pt x="0" y="108430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857231" y="-679181"/>
            <a:ext cx="3488732" cy="3301212"/>
          </a:xfrm>
          <a:custGeom>
            <a:avLst/>
            <a:gdLst/>
            <a:ahLst/>
            <a:cxnLst/>
            <a:rect r="r" b="b" t="t" l="l"/>
            <a:pathLst>
              <a:path h="3301212" w="3488732">
                <a:moveTo>
                  <a:pt x="0" y="0"/>
                </a:moveTo>
                <a:lnTo>
                  <a:pt x="3488731" y="0"/>
                </a:lnTo>
                <a:lnTo>
                  <a:pt x="3488731" y="3301212"/>
                </a:lnTo>
                <a:lnTo>
                  <a:pt x="0" y="33012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6226672" y="8371021"/>
            <a:ext cx="3472314" cy="3693951"/>
          </a:xfrm>
          <a:custGeom>
            <a:avLst/>
            <a:gdLst/>
            <a:ahLst/>
            <a:cxnLst/>
            <a:rect r="r" b="b" t="t" l="l"/>
            <a:pathLst>
              <a:path h="3693951" w="3472314">
                <a:moveTo>
                  <a:pt x="0" y="0"/>
                </a:moveTo>
                <a:lnTo>
                  <a:pt x="3472314" y="0"/>
                </a:lnTo>
                <a:lnTo>
                  <a:pt x="3472314" y="3693951"/>
                </a:lnTo>
                <a:lnTo>
                  <a:pt x="0" y="36939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128069"/>
            <a:ext cx="8392503" cy="1717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015"/>
              </a:lnSpc>
            </a:pPr>
            <a:r>
              <a:rPr lang="en-US" b="true" sz="10010">
                <a:gradFill>
                  <a:gsLst>
                    <a:gs pos="0">
                      <a:srgbClr val="82EAFC">
                        <a:alpha val="100000"/>
                      </a:srgbClr>
                    </a:gs>
                    <a:gs pos="100000">
                      <a:srgbClr val="6284F3">
                        <a:alpha val="100000"/>
                      </a:srgbClr>
                    </a:gs>
                  </a:gsLst>
                  <a:lin ang="0"/>
                </a:gradFill>
                <a:latin typeface="Anaphora Bold"/>
                <a:ea typeface="Anaphora Bold"/>
                <a:cs typeface="Anaphora Bold"/>
                <a:sym typeface="Anaphora Bold"/>
              </a:rPr>
              <a:t>Conclusion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049422"/>
            <a:ext cx="12208863" cy="3909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93"/>
              </a:lnSpc>
            </a:pPr>
            <a:r>
              <a:rPr lang="en-US" sz="320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Successfully developed a full-stack Progress Tracker web application using Flask. Demonstrates practical implementation of Flask, SQLAlchemy, and Flask-Login in a real-world project. Future enhancements include interactive dashboards, REST APIs, and mobile integration. This application serves as a valuable tool for students and self-learners to monitor their progress effectively.</a:t>
            </a:r>
          </a:p>
        </p:txBody>
      </p:sp>
      <p:sp>
        <p:nvSpPr>
          <p:cNvPr name="AutoShape 7" id="7"/>
          <p:cNvSpPr/>
          <p:nvPr/>
        </p:nvSpPr>
        <p:spPr>
          <a:xfrm>
            <a:off x="5224952" y="9239250"/>
            <a:ext cx="8843387" cy="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8" id="8"/>
          <p:cNvSpPr/>
          <p:nvPr/>
        </p:nvSpPr>
        <p:spPr>
          <a:xfrm>
            <a:off x="1028700" y="1047750"/>
            <a:ext cx="13039638" cy="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TextBox 9" id="9"/>
          <p:cNvSpPr txBox="true"/>
          <p:nvPr/>
        </p:nvSpPr>
        <p:spPr>
          <a:xfrm rot="0">
            <a:off x="1028700" y="8872677"/>
            <a:ext cx="1088264" cy="61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27"/>
              </a:lnSpc>
            </a:pPr>
            <a:r>
              <a:rPr lang="en-US" sz="359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25877" y="8872677"/>
            <a:ext cx="2926073" cy="613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27"/>
              </a:lnSpc>
            </a:pPr>
            <a:r>
              <a:rPr lang="en-US" sz="359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DAHMt2TqASQ</dc:identifier>
  <dcterms:modified xsi:type="dcterms:W3CDTF">2011-08-01T06:04:30Z</dcterms:modified>
  <cp:revision>1</cp:revision>
  <dc:title>Progress Tracker Web App: Flask Backend &amp; UI</dc:title>
</cp:coreProperties>
</file>